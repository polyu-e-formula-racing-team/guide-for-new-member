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22" Type="http://schemas.openxmlformats.org/officeDocument/2006/relationships/slide" Target="slides/slide17.xml"/><Relationship Id="rId44" Type="http://schemas.openxmlformats.org/officeDocument/2006/relationships/slide" Target="slides/slide39.xml"/><Relationship Id="rId21" Type="http://schemas.openxmlformats.org/officeDocument/2006/relationships/slide" Target="slides/slide16.xml"/><Relationship Id="rId43" Type="http://schemas.openxmlformats.org/officeDocument/2006/relationships/slide" Target="slides/slide38.xml"/><Relationship Id="rId24" Type="http://schemas.openxmlformats.org/officeDocument/2006/relationships/slide" Target="slides/slide19.xml"/><Relationship Id="rId46" Type="http://schemas.openxmlformats.org/officeDocument/2006/relationships/slide" Target="slides/slide41.xml"/><Relationship Id="rId23" Type="http://schemas.openxmlformats.org/officeDocument/2006/relationships/slide" Target="slides/slide18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643927bf9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1643927bf9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1643927bf92_0_2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1643927bf92_0_2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1643927bf92_0_2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1643927bf92_0_2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1643927bf92_0_2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1643927bf92_0_2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43927bf92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43927bf92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643927bf92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1643927bf92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1643927bf92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1643927bf92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643927bf92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643927bf92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1643927bf92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1643927bf92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1643927bf92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1643927bf92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1643927bf92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1643927bf92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1643927bf92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1643927bf92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1643927bf92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1643927bf92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1643927bf92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1643927bf92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1643927bf92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1643927bf92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166abff0add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166abff0add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1643927bf92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1643927bf92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166abff0add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166abff0add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1643927bf92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1643927bf92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166abff0add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166abff0add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TO-18 Package 2N2222 BJT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166abff0add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166abff0add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TO-18 Package 2N2222 BJT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1643927bf92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1643927bf92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1643927bf92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1643927bf92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1643927bf92_0_2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1643927bf92_0_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1643927bf92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1643927bf92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1643927bf92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1643927bf92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643927bf92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1643927bf92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1643927bf92_0_2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1643927bf92_0_2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1643927bf92_0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1643927bf92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1643927bf92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1643927bf92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1643927bf92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1643927bf92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operational amplifier is a very high-gain dc-coupled differential amplifier with a single-ended output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Using the words “non-inverting” and “inverting,” rather than “plus” and “minus” helps avoid confusion.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Power-supply connections are frequently not displayed</a:t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1643927bf92_0_2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1643927bf92_0_2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1643927bf92_0_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1643927bf92_0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1643927bf92_0_2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1643927bf92_0_2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1643927bf92_0_2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1643927bf92_0_2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1643927bf92_0_2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1643927bf92_0_2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1643927bf92_0_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1643927bf92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1643927bf92_0_1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1643927bf92_0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1643927bf92_0_3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1643927bf92_0_3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166abff0add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166abff0add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1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Relationship Id="rId4" Type="http://schemas.openxmlformats.org/officeDocument/2006/relationships/image" Target="../media/image1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1.png"/><Relationship Id="rId4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3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0.png"/><Relationship Id="rId4" Type="http://schemas.openxmlformats.org/officeDocument/2006/relationships/image" Target="../media/image1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3.png"/><Relationship Id="rId4" Type="http://schemas.openxmlformats.org/officeDocument/2006/relationships/image" Target="../media/image2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6.png"/><Relationship Id="rId4" Type="http://schemas.openxmlformats.org/officeDocument/2006/relationships/image" Target="../media/image2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1.png"/><Relationship Id="rId4" Type="http://schemas.openxmlformats.org/officeDocument/2006/relationships/image" Target="../media/image2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5.png"/><Relationship Id="rId4" Type="http://schemas.openxmlformats.org/officeDocument/2006/relationships/image" Target="../media/image38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9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0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5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6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4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hyperlink" Target="https://www.ti.com/lit/ds/snosbt3j/snosbt3j.pdf" TargetMode="External"/><Relationship Id="rId4" Type="http://schemas.openxmlformats.org/officeDocument/2006/relationships/image" Target="../media/image27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47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6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40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49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Basic Electronics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EEE Lecture 3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Voltage, Current, Kirchoff’s Laws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"/>
              <a:t>Covered last week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For those who can’t attend, reach out after this lecture</a:t>
            </a:r>
            <a:endParaRPr/>
          </a:p>
        </p:txBody>
      </p:sp>
      <p:pic>
        <p:nvPicPr>
          <p:cNvPr id="62" name="Google Shape;62;p14"/>
          <p:cNvPicPr preferRelativeResize="0"/>
          <p:nvPr/>
        </p:nvPicPr>
        <p:blipFill rotWithShape="1">
          <a:blip r:embed="rId3">
            <a:alphaModFix/>
          </a:blip>
          <a:srcRect b="0" l="10417" r="9073" t="16079"/>
          <a:stretch/>
        </p:blipFill>
        <p:spPr>
          <a:xfrm>
            <a:off x="4468800" y="2430350"/>
            <a:ext cx="3828726" cy="1734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4"/>
          <p:cNvPicPr preferRelativeResize="0"/>
          <p:nvPr/>
        </p:nvPicPr>
        <p:blipFill rotWithShape="1">
          <a:blip r:embed="rId4">
            <a:alphaModFix/>
          </a:blip>
          <a:srcRect b="0" l="9662" r="8242" t="12937"/>
          <a:stretch/>
        </p:blipFill>
        <p:spPr>
          <a:xfrm>
            <a:off x="311700" y="2382150"/>
            <a:ext cx="3700599" cy="183130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4"/>
          <p:cNvSpPr txBox="1"/>
          <p:nvPr/>
        </p:nvSpPr>
        <p:spPr>
          <a:xfrm>
            <a:off x="1180400" y="4213450"/>
            <a:ext cx="1963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Kirchoff Current Law</a:t>
            </a:r>
            <a:endParaRPr b="1"/>
          </a:p>
        </p:txBody>
      </p:sp>
      <p:sp>
        <p:nvSpPr>
          <p:cNvPr id="65" name="Google Shape;65;p14"/>
          <p:cNvSpPr txBox="1"/>
          <p:nvPr/>
        </p:nvSpPr>
        <p:spPr>
          <a:xfrm>
            <a:off x="5401563" y="4213450"/>
            <a:ext cx="1963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Kirchoff Voltage Law</a:t>
            </a:r>
            <a:endParaRPr b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Terms</a:t>
            </a:r>
            <a:endParaRPr/>
          </a:p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/>
              <a:t>Electronic Components</a:t>
            </a:r>
            <a:br>
              <a:rPr lang="en" sz="1700"/>
            </a:br>
            <a:r>
              <a:rPr lang="en" sz="1700"/>
              <a:t>	All the devices that we are talking about</a:t>
            </a:r>
            <a:endParaRPr sz="1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700"/>
              <a:t>Analog Electronics</a:t>
            </a:r>
            <a:br>
              <a:rPr b="1" lang="en" sz="1700"/>
            </a:br>
            <a:r>
              <a:rPr b="1" lang="en" sz="1700"/>
              <a:t>	</a:t>
            </a:r>
            <a:r>
              <a:rPr lang="en" sz="1700"/>
              <a:t>Study of analog signals and devices operating on them. What we’ll discuss today</a:t>
            </a:r>
            <a:endParaRPr sz="1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700"/>
              <a:t>Digital Electronics</a:t>
            </a:r>
            <a:br>
              <a:rPr b="1" lang="en" sz="1700"/>
            </a:br>
            <a:r>
              <a:rPr b="1" lang="en" sz="1700"/>
              <a:t>	</a:t>
            </a:r>
            <a:r>
              <a:rPr lang="en" sz="1700"/>
              <a:t>Study of discrete signals and devices operating on them. Not discussed today</a:t>
            </a:r>
            <a:endParaRPr sz="17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7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5525" y="760400"/>
            <a:ext cx="6440400" cy="36227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6"/>
          <p:cNvSpPr txBox="1"/>
          <p:nvPr/>
        </p:nvSpPr>
        <p:spPr>
          <a:xfrm>
            <a:off x="389050" y="1409850"/>
            <a:ext cx="1759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Analog Signal</a:t>
            </a:r>
            <a:endParaRPr b="1" sz="1800"/>
          </a:p>
        </p:txBody>
      </p:sp>
      <p:sp>
        <p:nvSpPr>
          <p:cNvPr id="78" name="Google Shape;78;p16"/>
          <p:cNvSpPr txBox="1"/>
          <p:nvPr/>
        </p:nvSpPr>
        <p:spPr>
          <a:xfrm>
            <a:off x="437800" y="3088775"/>
            <a:ext cx="1662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Digital</a:t>
            </a:r>
            <a:r>
              <a:rPr b="1" lang="en" sz="1800"/>
              <a:t> Signal</a:t>
            </a:r>
            <a:endParaRPr b="1"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Must-know Components</a:t>
            </a:r>
            <a:endParaRPr/>
          </a:p>
        </p:txBody>
      </p:sp>
      <p:sp>
        <p:nvSpPr>
          <p:cNvPr id="84" name="Google Shape;84;p1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Resistor</a:t>
            </a:r>
            <a:endParaRPr/>
          </a:p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Some conducting stuff (carbon, thin metal, carbon film) with a wire at each end</a:t>
            </a:r>
            <a:endParaRPr/>
          </a:p>
        </p:txBody>
      </p:sp>
      <p:pic>
        <p:nvPicPr>
          <p:cNvPr id="91" name="Google Shape;9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7900" y="2032100"/>
            <a:ext cx="2186350" cy="207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64250" y="2109213"/>
            <a:ext cx="5108900" cy="191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77401" y="1017725"/>
            <a:ext cx="6189198" cy="3892425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Resistor - Types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Resistor - Types</a:t>
            </a:r>
            <a:endParaRPr/>
          </a:p>
        </p:txBody>
      </p:sp>
      <p:pic>
        <p:nvPicPr>
          <p:cNvPr id="104" name="Google Shape;10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2326" y="1017725"/>
            <a:ext cx="7099351" cy="3736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Resistor - Ohm’s Law and Power</a:t>
            </a:r>
            <a:endParaRPr/>
          </a:p>
        </p:txBody>
      </p:sp>
      <p:sp>
        <p:nvSpPr>
          <p:cNvPr id="110" name="Google Shape;110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Voltage across it is related to the current through it by a </a:t>
            </a:r>
            <a:r>
              <a:rPr b="1" lang="en"/>
              <a:t>resistance R</a:t>
            </a:r>
            <a:r>
              <a:rPr lang="en"/>
              <a:t>.</a:t>
            </a:r>
            <a:endParaRPr/>
          </a:p>
        </p:txBody>
      </p:sp>
      <p:pic>
        <p:nvPicPr>
          <p:cNvPr id="111" name="Google Shape;11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38650" y="2393050"/>
            <a:ext cx="3883025" cy="93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6550" y="2104225"/>
            <a:ext cx="2414825" cy="151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1"/>
          <p:cNvSpPr txBox="1"/>
          <p:nvPr/>
        </p:nvSpPr>
        <p:spPr>
          <a:xfrm>
            <a:off x="1310863" y="3617125"/>
            <a:ext cx="118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Ohm’s Law</a:t>
            </a:r>
            <a:endParaRPr b="1"/>
          </a:p>
        </p:txBody>
      </p:sp>
      <p:sp>
        <p:nvSpPr>
          <p:cNvPr id="114" name="Google Shape;114;p21"/>
          <p:cNvSpPr txBox="1"/>
          <p:nvPr/>
        </p:nvSpPr>
        <p:spPr>
          <a:xfrm>
            <a:off x="5414350" y="3617125"/>
            <a:ext cx="1731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Power Dissipated</a:t>
            </a:r>
            <a:endParaRPr b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Capacitor</a:t>
            </a:r>
            <a:endParaRPr/>
          </a:p>
        </p:txBody>
      </p:sp>
      <p:sp>
        <p:nvSpPr>
          <p:cNvPr id="120" name="Google Shape;120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Devices that store charge </a:t>
            </a:r>
            <a:r>
              <a:rPr lang="en"/>
              <a:t>between plates (or dielectrics) separated by an insulating material.</a:t>
            </a:r>
            <a:endParaRPr/>
          </a:p>
        </p:txBody>
      </p:sp>
      <p:pic>
        <p:nvPicPr>
          <p:cNvPr id="121" name="Google Shape;12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4225" y="2167925"/>
            <a:ext cx="3411575" cy="2275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96150" y="2167925"/>
            <a:ext cx="3243625" cy="2275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Capacitor - Types</a:t>
            </a:r>
            <a:endParaRPr/>
          </a:p>
        </p:txBody>
      </p:sp>
      <p:pic>
        <p:nvPicPr>
          <p:cNvPr id="128" name="Google Shape;12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77238" y="1017725"/>
            <a:ext cx="5589526" cy="3941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4"/>
          <p:cNvSpPr txBox="1"/>
          <p:nvPr>
            <p:ph type="title"/>
          </p:nvPr>
        </p:nvSpPr>
        <p:spPr>
          <a:xfrm>
            <a:off x="311700" y="445025"/>
            <a:ext cx="8322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Capacitor - Types</a:t>
            </a:r>
            <a:endParaRPr/>
          </a:p>
        </p:txBody>
      </p:sp>
      <p:pic>
        <p:nvPicPr>
          <p:cNvPr id="134" name="Google Shape;134;p24"/>
          <p:cNvPicPr preferRelativeResize="0"/>
          <p:nvPr/>
        </p:nvPicPr>
        <p:blipFill rotWithShape="1">
          <a:blip r:embed="rId3">
            <a:alphaModFix/>
          </a:blip>
          <a:srcRect b="0" l="0" r="0" t="18487"/>
          <a:stretch/>
        </p:blipFill>
        <p:spPr>
          <a:xfrm>
            <a:off x="1157625" y="1017725"/>
            <a:ext cx="6828750" cy="3710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Capacitor - Equations</a:t>
            </a:r>
            <a:endParaRPr/>
          </a:p>
        </p:txBody>
      </p:sp>
      <p:sp>
        <p:nvSpPr>
          <p:cNvPr id="140" name="Google Shape;140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/>
              <a:t>Rate of change</a:t>
            </a:r>
            <a:r>
              <a:rPr lang="en"/>
              <a:t> of v</a:t>
            </a:r>
            <a:r>
              <a:rPr lang="en"/>
              <a:t>oltage across it is related to the current through it by a </a:t>
            </a:r>
            <a:r>
              <a:rPr b="1" lang="en"/>
              <a:t>capacitance C</a:t>
            </a:r>
            <a:r>
              <a:rPr lang="en"/>
              <a:t>. </a:t>
            </a:r>
            <a:endParaRPr/>
          </a:p>
        </p:txBody>
      </p:sp>
      <p:pic>
        <p:nvPicPr>
          <p:cNvPr id="141" name="Google Shape;14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59375" y="2013087"/>
            <a:ext cx="2825250" cy="1695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Capacitor - RC Circuit</a:t>
            </a:r>
            <a:endParaRPr/>
          </a:p>
        </p:txBody>
      </p:sp>
      <p:sp>
        <p:nvSpPr>
          <p:cNvPr id="147" name="Google Shape;147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A charged capacitor across a resistor will </a:t>
            </a:r>
            <a:r>
              <a:rPr b="1" lang="en"/>
              <a:t>discharge </a:t>
            </a:r>
            <a:r>
              <a:rPr lang="en"/>
              <a:t>the voltage (and dissipate power)</a:t>
            </a:r>
            <a:endParaRPr/>
          </a:p>
        </p:txBody>
      </p:sp>
      <p:grpSp>
        <p:nvGrpSpPr>
          <p:cNvPr id="148" name="Google Shape;148;p26"/>
          <p:cNvGrpSpPr/>
          <p:nvPr/>
        </p:nvGrpSpPr>
        <p:grpSpPr>
          <a:xfrm>
            <a:off x="4826075" y="2089500"/>
            <a:ext cx="3107950" cy="2566875"/>
            <a:chOff x="4485775" y="2169800"/>
            <a:chExt cx="3107950" cy="2566875"/>
          </a:xfrm>
        </p:grpSpPr>
        <p:sp>
          <p:nvSpPr>
            <p:cNvPr id="149" name="Google Shape;149;p26"/>
            <p:cNvSpPr txBox="1"/>
            <p:nvPr/>
          </p:nvSpPr>
          <p:spPr>
            <a:xfrm>
              <a:off x="4485775" y="2169800"/>
              <a:ext cx="8520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/>
                <a:t>Vout / V</a:t>
              </a:r>
              <a:endParaRPr b="1"/>
            </a:p>
          </p:txBody>
        </p:sp>
        <p:sp>
          <p:nvSpPr>
            <p:cNvPr id="150" name="Google Shape;150;p26"/>
            <p:cNvSpPr txBox="1"/>
            <p:nvPr/>
          </p:nvSpPr>
          <p:spPr>
            <a:xfrm>
              <a:off x="7068725" y="4336475"/>
              <a:ext cx="5250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/>
                <a:t>t / s</a:t>
              </a:r>
              <a:endParaRPr b="1"/>
            </a:p>
          </p:txBody>
        </p:sp>
      </p:grpSp>
      <p:pic>
        <p:nvPicPr>
          <p:cNvPr id="151" name="Google Shape;151;p26"/>
          <p:cNvPicPr preferRelativeResize="0"/>
          <p:nvPr/>
        </p:nvPicPr>
        <p:blipFill rotWithShape="1">
          <a:blip r:embed="rId3">
            <a:alphaModFix/>
          </a:blip>
          <a:srcRect b="0" l="0" r="31394" t="0"/>
          <a:stretch/>
        </p:blipFill>
        <p:spPr>
          <a:xfrm>
            <a:off x="5623900" y="2071225"/>
            <a:ext cx="2417024" cy="2149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9100" y="2434562"/>
            <a:ext cx="3999351" cy="1423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Capacitor - RC Circuit</a:t>
            </a:r>
            <a:endParaRPr/>
          </a:p>
        </p:txBody>
      </p:sp>
      <p:sp>
        <p:nvSpPr>
          <p:cNvPr id="158" name="Google Shape;158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A voltage source across an uncharged capacitor will </a:t>
            </a:r>
            <a:r>
              <a:rPr b="1" lang="en"/>
              <a:t>charge</a:t>
            </a:r>
            <a:r>
              <a:rPr lang="en"/>
              <a:t>; voltage across cap will slowly approach source.</a:t>
            </a:r>
            <a:endParaRPr/>
          </a:p>
        </p:txBody>
      </p:sp>
      <p:grpSp>
        <p:nvGrpSpPr>
          <p:cNvPr id="159" name="Google Shape;159;p27"/>
          <p:cNvGrpSpPr/>
          <p:nvPr/>
        </p:nvGrpSpPr>
        <p:grpSpPr>
          <a:xfrm>
            <a:off x="4826075" y="2089500"/>
            <a:ext cx="3107951" cy="2566875"/>
            <a:chOff x="4485775" y="2169800"/>
            <a:chExt cx="3107951" cy="2566875"/>
          </a:xfrm>
        </p:grpSpPr>
        <p:pic>
          <p:nvPicPr>
            <p:cNvPr id="160" name="Google Shape;160;p27"/>
            <p:cNvPicPr preferRelativeResize="0"/>
            <p:nvPr/>
          </p:nvPicPr>
          <p:blipFill rotWithShape="1">
            <a:blip r:embed="rId3">
              <a:alphaModFix/>
            </a:blip>
            <a:srcRect b="0" l="0" r="48557" t="0"/>
            <a:stretch/>
          </p:blipFill>
          <p:spPr>
            <a:xfrm>
              <a:off x="5337975" y="2169800"/>
              <a:ext cx="2255751" cy="21666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1" name="Google Shape;161;p27"/>
            <p:cNvSpPr txBox="1"/>
            <p:nvPr/>
          </p:nvSpPr>
          <p:spPr>
            <a:xfrm>
              <a:off x="4485775" y="2169800"/>
              <a:ext cx="8520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/>
                <a:t>Vout / V</a:t>
              </a:r>
              <a:endParaRPr b="1"/>
            </a:p>
          </p:txBody>
        </p:sp>
        <p:sp>
          <p:nvSpPr>
            <p:cNvPr id="162" name="Google Shape;162;p27"/>
            <p:cNvSpPr txBox="1"/>
            <p:nvPr/>
          </p:nvSpPr>
          <p:spPr>
            <a:xfrm>
              <a:off x="7068725" y="4336475"/>
              <a:ext cx="5250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/>
                <a:t>t / s</a:t>
              </a:r>
              <a:endParaRPr b="1"/>
            </a:p>
          </p:txBody>
        </p:sp>
      </p:grpSp>
      <p:pic>
        <p:nvPicPr>
          <p:cNvPr id="163" name="Google Shape;163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8599" y="2193786"/>
            <a:ext cx="3693535" cy="1941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Inductor</a:t>
            </a:r>
            <a:endParaRPr/>
          </a:p>
        </p:txBody>
      </p:sp>
      <p:sp>
        <p:nvSpPr>
          <p:cNvPr id="169" name="Google Shape;169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Similar to capacitor but </a:t>
            </a:r>
            <a:r>
              <a:rPr b="1" lang="en"/>
              <a:t>rate of change of current</a:t>
            </a:r>
            <a:r>
              <a:rPr lang="en"/>
              <a:t> is related to voltage through an </a:t>
            </a:r>
            <a:r>
              <a:rPr b="1" lang="en"/>
              <a:t>inductance</a:t>
            </a:r>
            <a:r>
              <a:rPr lang="en"/>
              <a:t>.</a:t>
            </a:r>
            <a:endParaRPr/>
          </a:p>
        </p:txBody>
      </p:sp>
      <p:pic>
        <p:nvPicPr>
          <p:cNvPr id="170" name="Google Shape;170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27225" y="3156925"/>
            <a:ext cx="1715525" cy="1086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11275" y="2111450"/>
            <a:ext cx="3067225" cy="2228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69200" y="2242800"/>
            <a:ext cx="2631576" cy="65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Semiconductor</a:t>
            </a:r>
            <a:endParaRPr/>
          </a:p>
        </p:txBody>
      </p:sp>
      <p:sp>
        <p:nvSpPr>
          <p:cNvPr id="178" name="Google Shape;178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A material that could change its conductivity, behaving both like an insulator and a conductor</a:t>
            </a:r>
            <a:endParaRPr/>
          </a:p>
        </p:txBody>
      </p:sp>
      <p:pic>
        <p:nvPicPr>
          <p:cNvPr id="179" name="Google Shape;179;p29"/>
          <p:cNvPicPr preferRelativeResize="0"/>
          <p:nvPr/>
        </p:nvPicPr>
        <p:blipFill rotWithShape="1">
          <a:blip r:embed="rId3">
            <a:alphaModFix/>
          </a:blip>
          <a:srcRect b="2771" l="0" r="0" t="0"/>
          <a:stretch/>
        </p:blipFill>
        <p:spPr>
          <a:xfrm>
            <a:off x="1759700" y="2165088"/>
            <a:ext cx="2085350" cy="20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50175" y="2127538"/>
            <a:ext cx="3154075" cy="210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Diode</a:t>
            </a:r>
            <a:endParaRPr/>
          </a:p>
        </p:txBody>
      </p:sp>
      <p:sp>
        <p:nvSpPr>
          <p:cNvPr id="186" name="Google Shape;186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A simple </a:t>
            </a:r>
            <a:r>
              <a:rPr lang="en"/>
              <a:t>semiconductor</a:t>
            </a:r>
            <a:r>
              <a:rPr lang="en"/>
              <a:t> device that allows current to only flow in one direction</a:t>
            </a:r>
            <a:endParaRPr/>
          </a:p>
        </p:txBody>
      </p:sp>
      <p:pic>
        <p:nvPicPr>
          <p:cNvPr id="187" name="Google Shape;187;p30"/>
          <p:cNvPicPr preferRelativeResize="0"/>
          <p:nvPr/>
        </p:nvPicPr>
        <p:blipFill rotWithShape="1">
          <a:blip r:embed="rId3">
            <a:alphaModFix/>
          </a:blip>
          <a:srcRect b="11893" l="0" r="0" t="12204"/>
          <a:stretch/>
        </p:blipFill>
        <p:spPr>
          <a:xfrm>
            <a:off x="2400700" y="1820950"/>
            <a:ext cx="4915349" cy="106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38150" y="2886300"/>
            <a:ext cx="4310150" cy="1682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Diode - Types</a:t>
            </a:r>
            <a:endParaRPr/>
          </a:p>
        </p:txBody>
      </p:sp>
      <p:pic>
        <p:nvPicPr>
          <p:cNvPr id="194" name="Google Shape;194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7175" y="975275"/>
            <a:ext cx="6549642" cy="3192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Diode - LEDs</a:t>
            </a:r>
            <a:endParaRPr/>
          </a:p>
        </p:txBody>
      </p:sp>
      <p:sp>
        <p:nvSpPr>
          <p:cNvPr id="200" name="Google Shape;200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Basically a diode with larger power requirements</a:t>
            </a:r>
            <a:endParaRPr/>
          </a:p>
        </p:txBody>
      </p:sp>
      <p:pic>
        <p:nvPicPr>
          <p:cNvPr id="201" name="Google Shape;201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75225" y="1787025"/>
            <a:ext cx="4393551" cy="2682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Transistor</a:t>
            </a:r>
            <a:endParaRPr/>
          </a:p>
        </p:txBody>
      </p:sp>
      <p:sp>
        <p:nvSpPr>
          <p:cNvPr id="207" name="Google Shape;207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A three-terminal device that allows one electrical signal to control another</a:t>
            </a:r>
            <a:endParaRPr/>
          </a:p>
        </p:txBody>
      </p:sp>
      <p:pic>
        <p:nvPicPr>
          <p:cNvPr id="208" name="Google Shape;208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59000" y="1664500"/>
            <a:ext cx="5226001" cy="3055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Transistor - Construction</a:t>
            </a:r>
            <a:endParaRPr/>
          </a:p>
        </p:txBody>
      </p:sp>
      <p:sp>
        <p:nvSpPr>
          <p:cNvPr id="214" name="Google Shape;214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700"/>
              <a:t>This control is done using doped </a:t>
            </a:r>
            <a:r>
              <a:rPr lang="en" sz="1700"/>
              <a:t>semiconductor</a:t>
            </a:r>
            <a:r>
              <a:rPr lang="en" sz="1700"/>
              <a:t> materials, in different constructions</a:t>
            </a:r>
            <a:endParaRPr sz="1700"/>
          </a:p>
        </p:txBody>
      </p:sp>
      <p:pic>
        <p:nvPicPr>
          <p:cNvPr id="215" name="Google Shape;215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2700" y="1752675"/>
            <a:ext cx="2976891" cy="2816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94700" y="1727375"/>
            <a:ext cx="3292849" cy="28668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34"/>
          <p:cNvSpPr txBox="1"/>
          <p:nvPr/>
        </p:nvSpPr>
        <p:spPr>
          <a:xfrm>
            <a:off x="982875" y="4594175"/>
            <a:ext cx="2544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Bipolar Junction Transistor</a:t>
            </a:r>
            <a:endParaRPr b="1"/>
          </a:p>
        </p:txBody>
      </p:sp>
      <p:sp>
        <p:nvSpPr>
          <p:cNvPr id="218" name="Google Shape;218;p34"/>
          <p:cNvSpPr txBox="1"/>
          <p:nvPr/>
        </p:nvSpPr>
        <p:spPr>
          <a:xfrm>
            <a:off x="5348375" y="4594175"/>
            <a:ext cx="2185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Field-Effect Transistor</a:t>
            </a:r>
            <a:endParaRPr b="1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BJT - Bipolar Junction Transistor</a:t>
            </a:r>
            <a:endParaRPr/>
          </a:p>
        </p:txBody>
      </p:sp>
      <p:sp>
        <p:nvSpPr>
          <p:cNvPr id="224" name="Google Shape;224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700"/>
              <a:t>A transistor that uses the base current </a:t>
            </a:r>
            <a:r>
              <a:rPr b="1" lang="en" sz="1700"/>
              <a:t>I_B </a:t>
            </a:r>
            <a:r>
              <a:rPr lang="en" sz="1700"/>
              <a:t>to program/control the collector current </a:t>
            </a:r>
            <a:r>
              <a:rPr b="1" lang="en" sz="1700"/>
              <a:t>I_C</a:t>
            </a:r>
            <a:endParaRPr b="1" sz="1700"/>
          </a:p>
        </p:txBody>
      </p:sp>
      <p:pic>
        <p:nvPicPr>
          <p:cNvPr id="225" name="Google Shape;225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6549" y="1858150"/>
            <a:ext cx="3103350" cy="2710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89200" y="1805413"/>
            <a:ext cx="2976891" cy="2816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BJT - Anatomy</a:t>
            </a:r>
            <a:endParaRPr/>
          </a:p>
        </p:txBody>
      </p:sp>
      <p:sp>
        <p:nvSpPr>
          <p:cNvPr id="232" name="Google Shape;232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33" name="Google Shape;233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1549" y="1539325"/>
            <a:ext cx="4219050" cy="264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15076" y="1367475"/>
            <a:ext cx="2580376" cy="29863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5" name="Google Shape;235;p36"/>
          <p:cNvCxnSpPr/>
          <p:nvPr/>
        </p:nvCxnSpPr>
        <p:spPr>
          <a:xfrm flipH="1" rot="10800000">
            <a:off x="1935975" y="3264900"/>
            <a:ext cx="721800" cy="126000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6" name="Google Shape;236;p36"/>
          <p:cNvSpPr txBox="1"/>
          <p:nvPr/>
        </p:nvSpPr>
        <p:spPr>
          <a:xfrm>
            <a:off x="1317350" y="4524900"/>
            <a:ext cx="1455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Pins/Terminals</a:t>
            </a:r>
            <a:endParaRPr b="1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BJT - Packages</a:t>
            </a:r>
            <a:endParaRPr/>
          </a:p>
        </p:txBody>
      </p:sp>
      <p:pic>
        <p:nvPicPr>
          <p:cNvPr id="242" name="Google Shape;242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71963" y="1017725"/>
            <a:ext cx="5200076" cy="3929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BJT - Switch</a:t>
            </a:r>
            <a:endParaRPr/>
          </a:p>
        </p:txBody>
      </p:sp>
      <p:sp>
        <p:nvSpPr>
          <p:cNvPr id="248" name="Google Shape;248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49" name="Google Shape;249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38075" y="270025"/>
            <a:ext cx="4643274" cy="4603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MOSFET</a:t>
            </a:r>
            <a:endParaRPr/>
          </a:p>
        </p:txBody>
      </p:sp>
      <p:sp>
        <p:nvSpPr>
          <p:cNvPr id="255" name="Google Shape;255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700"/>
              <a:t>Another type of transistor. This time, it uses voltage to control the current. More specifically, the Gate-Source voltage </a:t>
            </a:r>
            <a:r>
              <a:rPr b="1" lang="en" sz="1700"/>
              <a:t>V_GS</a:t>
            </a:r>
            <a:r>
              <a:rPr lang="en" sz="1700"/>
              <a:t> controls/programs the drain current </a:t>
            </a:r>
            <a:r>
              <a:rPr b="1" lang="en" sz="1700"/>
              <a:t>I_d</a:t>
            </a:r>
            <a:endParaRPr b="1" sz="1700"/>
          </a:p>
        </p:txBody>
      </p:sp>
      <p:pic>
        <p:nvPicPr>
          <p:cNvPr id="256" name="Google Shape;256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72302" y="2054400"/>
            <a:ext cx="2285888" cy="25144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7" name="Google Shape;257;p39"/>
          <p:cNvCxnSpPr/>
          <p:nvPr/>
        </p:nvCxnSpPr>
        <p:spPr>
          <a:xfrm>
            <a:off x="5991200" y="2709225"/>
            <a:ext cx="0" cy="8535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58" name="Google Shape;258;p39"/>
          <p:cNvSpPr txBox="1"/>
          <p:nvPr/>
        </p:nvSpPr>
        <p:spPr>
          <a:xfrm>
            <a:off x="5991200" y="2852400"/>
            <a:ext cx="5154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/>
              <a:t>I_d</a:t>
            </a:r>
            <a:endParaRPr b="1" sz="1700"/>
          </a:p>
        </p:txBody>
      </p:sp>
      <p:sp>
        <p:nvSpPr>
          <p:cNvPr id="259" name="Google Shape;259;p39"/>
          <p:cNvSpPr txBox="1"/>
          <p:nvPr/>
        </p:nvSpPr>
        <p:spPr>
          <a:xfrm>
            <a:off x="3047175" y="4253450"/>
            <a:ext cx="820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/>
              <a:t>V_GS</a:t>
            </a:r>
            <a:endParaRPr b="1" sz="17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MOSFET - Types</a:t>
            </a:r>
            <a:endParaRPr/>
          </a:p>
        </p:txBody>
      </p:sp>
      <p:sp>
        <p:nvSpPr>
          <p:cNvPr id="265" name="Google Shape;265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66" name="Google Shape;266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63175" y="1361087"/>
            <a:ext cx="6017639" cy="2999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MOSFET - Packages</a:t>
            </a:r>
            <a:endParaRPr/>
          </a:p>
        </p:txBody>
      </p:sp>
      <p:grpSp>
        <p:nvGrpSpPr>
          <p:cNvPr id="272" name="Google Shape;272;p41"/>
          <p:cNvGrpSpPr/>
          <p:nvPr/>
        </p:nvGrpSpPr>
        <p:grpSpPr>
          <a:xfrm>
            <a:off x="1713512" y="1017733"/>
            <a:ext cx="5716975" cy="3468461"/>
            <a:chOff x="1650763" y="1017725"/>
            <a:chExt cx="6399838" cy="3882750"/>
          </a:xfrm>
        </p:grpSpPr>
        <p:pic>
          <p:nvPicPr>
            <p:cNvPr id="273" name="Google Shape;273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650763" y="1017725"/>
              <a:ext cx="5842470" cy="38209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4" name="Google Shape;274;p41"/>
            <p:cNvSpPr/>
            <p:nvPr/>
          </p:nvSpPr>
          <p:spPr>
            <a:xfrm>
              <a:off x="5814400" y="4073975"/>
              <a:ext cx="2236200" cy="826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MOSFET - Switch</a:t>
            </a:r>
            <a:endParaRPr/>
          </a:p>
        </p:txBody>
      </p:sp>
      <p:sp>
        <p:nvSpPr>
          <p:cNvPr id="280" name="Google Shape;280;p4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81" name="Google Shape;281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8874" y="1152475"/>
            <a:ext cx="6706262" cy="3416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MOSFET Relay Driver</a:t>
            </a:r>
            <a:endParaRPr/>
          </a:p>
        </p:txBody>
      </p:sp>
      <p:sp>
        <p:nvSpPr>
          <p:cNvPr id="287" name="Google Shape;287;p4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Similar to driving an LED</a:t>
            </a:r>
            <a:endParaRPr/>
          </a:p>
        </p:txBody>
      </p:sp>
      <p:pic>
        <p:nvPicPr>
          <p:cNvPr id="288" name="Google Shape;288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77250" y="396875"/>
            <a:ext cx="3939400" cy="4349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 Amp - Operational Amplifier</a:t>
            </a:r>
            <a:endParaRPr/>
          </a:p>
        </p:txBody>
      </p:sp>
      <p:sp>
        <p:nvSpPr>
          <p:cNvPr id="294" name="Google Shape;294;p4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A high-gain voltage amplifier that takes 2 inputs and has 1 output (single-ended output).</a:t>
            </a:r>
            <a:endParaRPr/>
          </a:p>
        </p:txBody>
      </p:sp>
      <p:pic>
        <p:nvPicPr>
          <p:cNvPr id="295" name="Google Shape;295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86913" y="2193618"/>
            <a:ext cx="3970174" cy="1334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 Amp - Packages</a:t>
            </a:r>
            <a:endParaRPr/>
          </a:p>
        </p:txBody>
      </p:sp>
      <p:pic>
        <p:nvPicPr>
          <p:cNvPr id="301" name="Google Shape;301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42376" y="1017725"/>
            <a:ext cx="5349924" cy="399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 Amp - Example (LM358 Datasheet)</a:t>
            </a:r>
            <a:endParaRPr/>
          </a:p>
        </p:txBody>
      </p:sp>
      <p:sp>
        <p:nvSpPr>
          <p:cNvPr id="307" name="Google Shape;307;p4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https://www.ti.com/lit/ds/snosbt3j/snosbt3j.pdf</a:t>
            </a:r>
            <a:r>
              <a:rPr lang="en"/>
              <a:t> </a:t>
            </a:r>
            <a:endParaRPr/>
          </a:p>
        </p:txBody>
      </p:sp>
      <p:pic>
        <p:nvPicPr>
          <p:cNvPr id="308" name="Google Shape;308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50225" y="1770374"/>
            <a:ext cx="5843549" cy="2652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 Amp - LM358</a:t>
            </a:r>
            <a:endParaRPr/>
          </a:p>
        </p:txBody>
      </p:sp>
      <p:sp>
        <p:nvSpPr>
          <p:cNvPr id="314" name="Google Shape;314;p47"/>
          <p:cNvSpPr txBox="1"/>
          <p:nvPr>
            <p:ph idx="1" type="body"/>
          </p:nvPr>
        </p:nvSpPr>
        <p:spPr>
          <a:xfrm>
            <a:off x="311700" y="1152475"/>
            <a:ext cx="3110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to look at</a:t>
            </a:r>
            <a:r>
              <a:rPr lang="en"/>
              <a:t> </a:t>
            </a:r>
            <a:r>
              <a:rPr lang="en"/>
              <a:t>- </a:t>
            </a:r>
            <a:r>
              <a:rPr b="1" lang="en"/>
              <a:t>Pinouts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Note that this is two op-amps in a single chip, so all the pins are doubled</a:t>
            </a:r>
            <a:endParaRPr/>
          </a:p>
        </p:txBody>
      </p:sp>
      <p:pic>
        <p:nvPicPr>
          <p:cNvPr id="315" name="Google Shape;315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74900" y="105263"/>
            <a:ext cx="5341150" cy="4932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 Amp - Example (LM358 Datasheet)</a:t>
            </a:r>
            <a:endParaRPr/>
          </a:p>
        </p:txBody>
      </p:sp>
      <p:sp>
        <p:nvSpPr>
          <p:cNvPr id="321" name="Google Shape;321;p4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What to look at - </a:t>
            </a:r>
            <a:r>
              <a:rPr b="1" lang="en"/>
              <a:t>Supply Voltage</a:t>
            </a:r>
            <a:r>
              <a:rPr lang="en"/>
              <a:t> </a:t>
            </a:r>
            <a:endParaRPr/>
          </a:p>
        </p:txBody>
      </p:sp>
      <p:pic>
        <p:nvPicPr>
          <p:cNvPr id="322" name="Google Shape;322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7763" y="2275925"/>
            <a:ext cx="8128474" cy="2165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95750" y="1017725"/>
            <a:ext cx="2102875" cy="1584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 Amp - Example (LM358 Datasheet)</a:t>
            </a:r>
            <a:endParaRPr/>
          </a:p>
        </p:txBody>
      </p:sp>
      <p:sp>
        <p:nvSpPr>
          <p:cNvPr id="329" name="Google Shape;329;p4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What to look at - </a:t>
            </a:r>
            <a:r>
              <a:rPr b="1" lang="en"/>
              <a:t>Implementation</a:t>
            </a:r>
            <a:endParaRPr b="1"/>
          </a:p>
        </p:txBody>
      </p:sp>
      <p:pic>
        <p:nvPicPr>
          <p:cNvPr id="330" name="Google Shape;330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42800" y="1152475"/>
            <a:ext cx="4953825" cy="356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 Amp - Voltage Buffer</a:t>
            </a:r>
            <a:endParaRPr/>
          </a:p>
        </p:txBody>
      </p:sp>
      <p:sp>
        <p:nvSpPr>
          <p:cNvPr id="336" name="Google Shape;336;p5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700"/>
              <a:t>Let’s you have desirable </a:t>
            </a:r>
            <a:r>
              <a:rPr lang="en" sz="1700"/>
              <a:t>characteristics (high input impedance &amp; low output impedance) when stitching/connecting circuits together</a:t>
            </a:r>
            <a:endParaRPr sz="1700"/>
          </a:p>
        </p:txBody>
      </p:sp>
      <p:pic>
        <p:nvPicPr>
          <p:cNvPr id="337" name="Google Shape;337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1188" y="2151799"/>
            <a:ext cx="6781625" cy="2522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5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Miscellaneous Components</a:t>
            </a:r>
            <a:endParaRPr/>
          </a:p>
        </p:txBody>
      </p:sp>
      <p:sp>
        <p:nvSpPr>
          <p:cNvPr id="343" name="Google Shape;343;p5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Power Management IC</a:t>
            </a:r>
            <a:endParaRPr/>
          </a:p>
        </p:txBody>
      </p:sp>
      <p:sp>
        <p:nvSpPr>
          <p:cNvPr id="349" name="Google Shape;349;p52"/>
          <p:cNvSpPr txBox="1"/>
          <p:nvPr>
            <p:ph idx="1" type="body"/>
          </p:nvPr>
        </p:nvSpPr>
        <p:spPr>
          <a:xfrm>
            <a:off x="311700" y="1152475"/>
            <a:ext cx="3056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Achieves functions related to power requirement: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Examples: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Voltage conversion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Voltage regulation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Battery management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Battery charging</a:t>
            </a:r>
            <a:endParaRPr/>
          </a:p>
        </p:txBody>
      </p:sp>
      <p:pic>
        <p:nvPicPr>
          <p:cNvPr id="350" name="Google Shape;350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72350" y="569726"/>
            <a:ext cx="4759951" cy="40040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5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End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