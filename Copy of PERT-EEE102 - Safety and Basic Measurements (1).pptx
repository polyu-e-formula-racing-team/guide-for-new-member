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613770e48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613770e48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774a5c3f3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774a5c3f3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585b17e418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585b17e418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585b17e418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585b17e418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585b17e418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585b17e418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585b17e418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585b17e418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b774a5c3f3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b774a5c3f3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b774a5c3f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b774a5c3f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585b17e418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585b17e418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585b17e418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585b17e418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585b17e418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585b17e418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b774a5c3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b774a5c3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774a5c3f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b774a5c3f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b774a5c3f3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b774a5c3f3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rtl="0" algn="ctr">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58" name="Google Shape;58;p14"/>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rmAutofit/>
          </a:bodyPr>
          <a:lstStyle>
            <a:lvl1pPr lvl="0" rtl="0" algn="ctr">
              <a:lnSpc>
                <a:spcPct val="90000"/>
              </a:lnSpc>
              <a:spcBef>
                <a:spcPts val="800"/>
              </a:spcBef>
              <a:spcAft>
                <a:spcPts val="0"/>
              </a:spcAft>
              <a:buClr>
                <a:schemeClr val="dk1"/>
              </a:buClr>
              <a:buSzPts val="1800"/>
              <a:buNone/>
              <a:defRPr sz="1800"/>
            </a:lvl1pPr>
            <a:lvl2pPr lvl="1" rtl="0" algn="ctr">
              <a:lnSpc>
                <a:spcPct val="90000"/>
              </a:lnSpc>
              <a:spcBef>
                <a:spcPts val="400"/>
              </a:spcBef>
              <a:spcAft>
                <a:spcPts val="0"/>
              </a:spcAft>
              <a:buClr>
                <a:schemeClr val="dk1"/>
              </a:buClr>
              <a:buSzPts val="1500"/>
              <a:buNone/>
              <a:defRPr sz="1500"/>
            </a:lvl2pPr>
            <a:lvl3pPr lvl="2" rtl="0" algn="ctr">
              <a:lnSpc>
                <a:spcPct val="90000"/>
              </a:lnSpc>
              <a:spcBef>
                <a:spcPts val="400"/>
              </a:spcBef>
              <a:spcAft>
                <a:spcPts val="0"/>
              </a:spcAft>
              <a:buClr>
                <a:schemeClr val="dk1"/>
              </a:buClr>
              <a:buSzPts val="1400"/>
              <a:buNone/>
              <a:defRPr sz="1400"/>
            </a:lvl3pPr>
            <a:lvl4pPr lvl="3" rtl="0" algn="ctr">
              <a:lnSpc>
                <a:spcPct val="90000"/>
              </a:lnSpc>
              <a:spcBef>
                <a:spcPts val="400"/>
              </a:spcBef>
              <a:spcAft>
                <a:spcPts val="0"/>
              </a:spcAft>
              <a:buClr>
                <a:schemeClr val="dk1"/>
              </a:buClr>
              <a:buSzPts val="1200"/>
              <a:buNone/>
              <a:defRPr sz="1200"/>
            </a:lvl4pPr>
            <a:lvl5pPr lvl="4" rtl="0" algn="ctr">
              <a:lnSpc>
                <a:spcPct val="90000"/>
              </a:lnSpc>
              <a:spcBef>
                <a:spcPts val="400"/>
              </a:spcBef>
              <a:spcAft>
                <a:spcPts val="0"/>
              </a:spcAft>
              <a:buClr>
                <a:schemeClr val="dk1"/>
              </a:buClr>
              <a:buSzPts val="12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sp>
        <p:nvSpPr>
          <p:cNvPr id="59" name="Google Shape;59;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64" name="Google Shape;64;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1282304"/>
            <a:ext cx="7886700" cy="21396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70" name="Google Shape;70;p16"/>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rgbClr val="888888"/>
              </a:buClr>
              <a:buSzPts val="1800"/>
              <a:buNone/>
              <a:defRPr sz="1800">
                <a:solidFill>
                  <a:srgbClr val="888888"/>
                </a:solidFill>
              </a:defRPr>
            </a:lvl1pPr>
            <a:lvl2pPr indent="-228600" lvl="1" marL="914400" rtl="0" algn="l">
              <a:lnSpc>
                <a:spcPct val="90000"/>
              </a:lnSpc>
              <a:spcBef>
                <a:spcPts val="400"/>
              </a:spcBef>
              <a:spcAft>
                <a:spcPts val="0"/>
              </a:spcAft>
              <a:buClr>
                <a:srgbClr val="888888"/>
              </a:buClr>
              <a:buSzPts val="1500"/>
              <a:buNone/>
              <a:defRPr sz="1500">
                <a:solidFill>
                  <a:srgbClr val="888888"/>
                </a:solidFill>
              </a:defRPr>
            </a:lvl2pPr>
            <a:lvl3pPr indent="-228600" lvl="2" marL="1371600" rtl="0" algn="l">
              <a:lnSpc>
                <a:spcPct val="90000"/>
              </a:lnSpc>
              <a:spcBef>
                <a:spcPts val="400"/>
              </a:spcBef>
              <a:spcAft>
                <a:spcPts val="0"/>
              </a:spcAft>
              <a:buClr>
                <a:srgbClr val="888888"/>
              </a:buClr>
              <a:buSzPts val="1400"/>
              <a:buNone/>
              <a:defRPr sz="1400">
                <a:solidFill>
                  <a:srgbClr val="888888"/>
                </a:solidFill>
              </a:defRPr>
            </a:lvl3pPr>
            <a:lvl4pPr indent="-228600" lvl="3" marL="1828800" rtl="0" algn="l">
              <a:lnSpc>
                <a:spcPct val="90000"/>
              </a:lnSpc>
              <a:spcBef>
                <a:spcPts val="400"/>
              </a:spcBef>
              <a:spcAft>
                <a:spcPts val="0"/>
              </a:spcAft>
              <a:buClr>
                <a:srgbClr val="888888"/>
              </a:buClr>
              <a:buSzPts val="1200"/>
              <a:buNone/>
              <a:defRPr sz="1200">
                <a:solidFill>
                  <a:srgbClr val="888888"/>
                </a:solidFill>
              </a:defRPr>
            </a:lvl4pPr>
            <a:lvl5pPr indent="-228600" lvl="4" marL="2286000" rtl="0" algn="l">
              <a:lnSpc>
                <a:spcPct val="90000"/>
              </a:lnSpc>
              <a:spcBef>
                <a:spcPts val="400"/>
              </a:spcBef>
              <a:spcAft>
                <a:spcPts val="0"/>
              </a:spcAft>
              <a:buClr>
                <a:srgbClr val="888888"/>
              </a:buClr>
              <a:buSzPts val="1200"/>
              <a:buNone/>
              <a:defRPr sz="1200">
                <a:solidFill>
                  <a:srgbClr val="888888"/>
                </a:solidFill>
              </a:defRPr>
            </a:lvl5pPr>
            <a:lvl6pPr indent="-228600" lvl="5" marL="2743200" rtl="0" algn="l">
              <a:lnSpc>
                <a:spcPct val="90000"/>
              </a:lnSpc>
              <a:spcBef>
                <a:spcPts val="400"/>
              </a:spcBef>
              <a:spcAft>
                <a:spcPts val="0"/>
              </a:spcAft>
              <a:buClr>
                <a:srgbClr val="888888"/>
              </a:buClr>
              <a:buSzPts val="1200"/>
              <a:buNone/>
              <a:defRPr sz="1200">
                <a:solidFill>
                  <a:srgbClr val="888888"/>
                </a:solidFill>
              </a:defRPr>
            </a:lvl6pPr>
            <a:lvl7pPr indent="-228600" lvl="6" marL="3200400" rtl="0" algn="l">
              <a:lnSpc>
                <a:spcPct val="90000"/>
              </a:lnSpc>
              <a:spcBef>
                <a:spcPts val="400"/>
              </a:spcBef>
              <a:spcAft>
                <a:spcPts val="0"/>
              </a:spcAft>
              <a:buClr>
                <a:srgbClr val="888888"/>
              </a:buClr>
              <a:buSzPts val="1200"/>
              <a:buNone/>
              <a:defRPr sz="1200">
                <a:solidFill>
                  <a:srgbClr val="888888"/>
                </a:solidFill>
              </a:defRPr>
            </a:lvl7pPr>
            <a:lvl8pPr indent="-228600" lvl="7" marL="3657600" rtl="0" algn="l">
              <a:lnSpc>
                <a:spcPct val="90000"/>
              </a:lnSpc>
              <a:spcBef>
                <a:spcPts val="400"/>
              </a:spcBef>
              <a:spcAft>
                <a:spcPts val="0"/>
              </a:spcAft>
              <a:buClr>
                <a:srgbClr val="888888"/>
              </a:buClr>
              <a:buSzPts val="1200"/>
              <a:buNone/>
              <a:defRPr sz="1200">
                <a:solidFill>
                  <a:srgbClr val="888888"/>
                </a:solidFill>
              </a:defRPr>
            </a:lvl8pPr>
            <a:lvl9pPr indent="-228600" lvl="8" marL="4114800" rtl="0" algn="l">
              <a:lnSpc>
                <a:spcPct val="90000"/>
              </a:lnSpc>
              <a:spcBef>
                <a:spcPts val="400"/>
              </a:spcBef>
              <a:spcAft>
                <a:spcPts val="0"/>
              </a:spcAft>
              <a:buClr>
                <a:srgbClr val="888888"/>
              </a:buClr>
              <a:buSzPts val="1200"/>
              <a:buNone/>
              <a:defRPr sz="1200">
                <a:solidFill>
                  <a:srgbClr val="888888"/>
                </a:solidFill>
              </a:defRPr>
            </a:lvl9pPr>
          </a:lstStyle>
          <a:p/>
        </p:txBody>
      </p:sp>
      <p:sp>
        <p:nvSpPr>
          <p:cNvPr id="71" name="Google Shape;71;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76" name="Google Shape;76;p17"/>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77" name="Google Shape;77;p17"/>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78" name="Google Shape;78;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79" name="Google Shape;79;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80" name="Google Shape;80;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83" name="Google Shape;83;p18"/>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84" name="Google Shape;84;p18"/>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85" name="Google Shape;85;p18"/>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87" name="Google Shape;87;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88" name="Google Shape;88;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89" name="Google Shape;89;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92" name="Google Shape;92;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01" name="Google Shape;101;p21"/>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rtl="0" algn="l">
              <a:lnSpc>
                <a:spcPct val="90000"/>
              </a:lnSpc>
              <a:spcBef>
                <a:spcPts val="800"/>
              </a:spcBef>
              <a:spcAft>
                <a:spcPts val="0"/>
              </a:spcAft>
              <a:buClr>
                <a:schemeClr val="dk1"/>
              </a:buClr>
              <a:buSzPts val="2400"/>
              <a:buChar char="•"/>
              <a:defRPr sz="2400"/>
            </a:lvl1pPr>
            <a:lvl2pPr indent="-361950" lvl="1" marL="914400" rtl="0" algn="l">
              <a:lnSpc>
                <a:spcPct val="90000"/>
              </a:lnSpc>
              <a:spcBef>
                <a:spcPts val="400"/>
              </a:spcBef>
              <a:spcAft>
                <a:spcPts val="0"/>
              </a:spcAft>
              <a:buClr>
                <a:schemeClr val="dk1"/>
              </a:buClr>
              <a:buSzPts val="2100"/>
              <a:buChar char="•"/>
              <a:defRPr sz="2100"/>
            </a:lvl2pPr>
            <a:lvl3pPr indent="-342900" lvl="2" marL="1371600" rtl="0" algn="l">
              <a:lnSpc>
                <a:spcPct val="90000"/>
              </a:lnSpc>
              <a:spcBef>
                <a:spcPts val="400"/>
              </a:spcBef>
              <a:spcAft>
                <a:spcPts val="0"/>
              </a:spcAft>
              <a:buClr>
                <a:schemeClr val="dk1"/>
              </a:buClr>
              <a:buSzPts val="1800"/>
              <a:buChar char="•"/>
              <a:defRPr sz="1800"/>
            </a:lvl3pPr>
            <a:lvl4pPr indent="-323850" lvl="3" marL="1828800" rtl="0" algn="l">
              <a:lnSpc>
                <a:spcPct val="90000"/>
              </a:lnSpc>
              <a:spcBef>
                <a:spcPts val="400"/>
              </a:spcBef>
              <a:spcAft>
                <a:spcPts val="0"/>
              </a:spcAft>
              <a:buClr>
                <a:schemeClr val="dk1"/>
              </a:buClr>
              <a:buSzPts val="1500"/>
              <a:buChar char="•"/>
              <a:defRPr sz="1500"/>
            </a:lvl4pPr>
            <a:lvl5pPr indent="-323850" lvl="4" marL="2286000" rtl="0" algn="l">
              <a:lnSpc>
                <a:spcPct val="90000"/>
              </a:lnSpc>
              <a:spcBef>
                <a:spcPts val="400"/>
              </a:spcBef>
              <a:spcAft>
                <a:spcPts val="0"/>
              </a:spcAft>
              <a:buClr>
                <a:schemeClr val="dk1"/>
              </a:buClr>
              <a:buSzPts val="1500"/>
              <a:buChar char="•"/>
              <a:defRPr sz="1500"/>
            </a:lvl5pPr>
            <a:lvl6pPr indent="-323850" lvl="5" marL="2743200" rtl="0" algn="l">
              <a:lnSpc>
                <a:spcPct val="90000"/>
              </a:lnSpc>
              <a:spcBef>
                <a:spcPts val="400"/>
              </a:spcBef>
              <a:spcAft>
                <a:spcPts val="0"/>
              </a:spcAft>
              <a:buClr>
                <a:schemeClr val="dk1"/>
              </a:buClr>
              <a:buSzPts val="1500"/>
              <a:buChar char="•"/>
              <a:defRPr sz="1500"/>
            </a:lvl6pPr>
            <a:lvl7pPr indent="-323850" lvl="6" marL="3200400" rtl="0" algn="l">
              <a:lnSpc>
                <a:spcPct val="90000"/>
              </a:lnSpc>
              <a:spcBef>
                <a:spcPts val="400"/>
              </a:spcBef>
              <a:spcAft>
                <a:spcPts val="0"/>
              </a:spcAft>
              <a:buClr>
                <a:schemeClr val="dk1"/>
              </a:buClr>
              <a:buSzPts val="1500"/>
              <a:buChar char="•"/>
              <a:defRPr sz="1500"/>
            </a:lvl7pPr>
            <a:lvl8pPr indent="-323850" lvl="7" marL="3657600" rtl="0" algn="l">
              <a:lnSpc>
                <a:spcPct val="90000"/>
              </a:lnSpc>
              <a:spcBef>
                <a:spcPts val="400"/>
              </a:spcBef>
              <a:spcAft>
                <a:spcPts val="0"/>
              </a:spcAft>
              <a:buClr>
                <a:schemeClr val="dk1"/>
              </a:buClr>
              <a:buSzPts val="1500"/>
              <a:buChar char="•"/>
              <a:defRPr sz="1500"/>
            </a:lvl8pPr>
            <a:lvl9pPr indent="-323850" lvl="8" marL="4114800" rtl="0" algn="l">
              <a:lnSpc>
                <a:spcPct val="90000"/>
              </a:lnSpc>
              <a:spcBef>
                <a:spcPts val="400"/>
              </a:spcBef>
              <a:spcAft>
                <a:spcPts val="0"/>
              </a:spcAft>
              <a:buClr>
                <a:schemeClr val="dk1"/>
              </a:buClr>
              <a:buSzPts val="1500"/>
              <a:buChar char="•"/>
              <a:defRPr sz="1500"/>
            </a:lvl9pPr>
          </a:lstStyle>
          <a:p/>
        </p:txBody>
      </p:sp>
      <p:sp>
        <p:nvSpPr>
          <p:cNvPr id="102" name="Google Shape;102;p21"/>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103" name="Google Shape;103;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04" name="Google Shape;104;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05" name="Google Shape;105;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08" name="Google Shape;108;p22"/>
          <p:cNvSpPr/>
          <p:nvPr>
            <p:ph idx="2" type="pic"/>
          </p:nvPr>
        </p:nvSpPr>
        <p:spPr>
          <a:xfrm>
            <a:off x="3887391" y="740569"/>
            <a:ext cx="4629300" cy="3655200"/>
          </a:xfrm>
          <a:prstGeom prst="rect">
            <a:avLst/>
          </a:prstGeom>
          <a:noFill/>
          <a:ln>
            <a:noFill/>
          </a:ln>
        </p:spPr>
      </p:sp>
      <p:sp>
        <p:nvSpPr>
          <p:cNvPr id="109" name="Google Shape;109;p22"/>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110" name="Google Shape;110;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11" name="Google Shape;111;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12" name="Google Shape;112;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15" name="Google Shape;115;p23"/>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16" name="Google Shape;116;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17" name="Google Shape;117;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18" name="Google Shape;118;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21" name="Google Shape;121;p24"/>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23" name="Google Shape;123;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24" name="Google Shape;124;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www.youtube.com/watch?v=SOHDtNQoY7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hyperlink" Target="https://www.youtube.com/watch?v=s1431hiRKH8"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ctrTitle"/>
          </p:nvPr>
        </p:nvSpPr>
        <p:spPr>
          <a:xfrm>
            <a:off x="804901" y="781525"/>
            <a:ext cx="75342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Electrical Safety</a:t>
            </a:r>
            <a:endParaRPr/>
          </a:p>
        </p:txBody>
      </p:sp>
      <p:sp>
        <p:nvSpPr>
          <p:cNvPr id="130" name="Google Shape;130;p2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1st Rule: Common Sense</a:t>
            </a:r>
            <a:endParaRPr/>
          </a:p>
        </p:txBody>
      </p:sp>
      <p:sp>
        <p:nvSpPr>
          <p:cNvPr id="136" name="Google Shape;136;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u="sng">
                <a:solidFill>
                  <a:schemeClr val="hlink"/>
                </a:solidFill>
                <a:hlinkClick r:id="rId3"/>
              </a:rPr>
              <a:t>https://www.youtube.com/watch?v=SOHDtNQoY70</a:t>
            </a:r>
            <a:r>
              <a:rPr lang="en"/>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Electronics Safety - Electric Shock</a:t>
            </a:r>
            <a:endParaRPr/>
          </a:p>
        </p:txBody>
      </p:sp>
      <p:sp>
        <p:nvSpPr>
          <p:cNvPr id="147" name="Google Shape;147;p2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a:t>The main hazards we want to avoid while working on electronic and electrical systems are electric shocks</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We’ll cover </a:t>
            </a:r>
            <a:r>
              <a:rPr lang="en"/>
              <a:t>these things:</a:t>
            </a:r>
            <a:endParaRPr/>
          </a:p>
          <a:p>
            <a:pPr indent="-317500" lvl="0" marL="457200" rtl="0" algn="l">
              <a:spcBef>
                <a:spcPts val="800"/>
              </a:spcBef>
              <a:spcAft>
                <a:spcPts val="0"/>
              </a:spcAft>
              <a:buSzPts val="1400"/>
              <a:buAutoNum type="arabicPeriod"/>
            </a:pPr>
            <a:r>
              <a:rPr lang="en"/>
              <a:t>What it is</a:t>
            </a:r>
            <a:endParaRPr/>
          </a:p>
          <a:p>
            <a:pPr indent="-317500" lvl="0" marL="457200" rtl="0" algn="l">
              <a:spcBef>
                <a:spcPts val="0"/>
              </a:spcBef>
              <a:spcAft>
                <a:spcPts val="0"/>
              </a:spcAft>
              <a:buSzPts val="1400"/>
              <a:buAutoNum type="arabicPeriod"/>
            </a:pPr>
            <a:r>
              <a:rPr lang="en"/>
              <a:t>What factors affect how severe it can be</a:t>
            </a:r>
            <a:endParaRPr/>
          </a:p>
          <a:p>
            <a:pPr indent="-317500" lvl="0" marL="457200" rtl="0" algn="l">
              <a:spcBef>
                <a:spcPts val="0"/>
              </a:spcBef>
              <a:spcAft>
                <a:spcPts val="0"/>
              </a:spcAft>
              <a:buSzPts val="1400"/>
              <a:buAutoNum type="arabicPeriod"/>
            </a:pPr>
            <a:r>
              <a:rPr lang="en"/>
              <a:t>How to avoid it</a:t>
            </a:r>
            <a:endParaRPr/>
          </a:p>
          <a:p>
            <a:pPr indent="-317500" lvl="0" marL="457200" rtl="0" algn="l">
              <a:spcBef>
                <a:spcPts val="0"/>
              </a:spcBef>
              <a:spcAft>
                <a:spcPts val="0"/>
              </a:spcAft>
              <a:buSzPts val="1400"/>
              <a:buAutoNum type="arabicPeriod"/>
            </a:pPr>
            <a:r>
              <a:rPr lang="en"/>
              <a:t>What to do if you see someone being shocked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Electronics Safety - Electric Shock</a:t>
            </a:r>
            <a:endParaRPr/>
          </a:p>
        </p:txBody>
      </p:sp>
      <p:sp>
        <p:nvSpPr>
          <p:cNvPr id="153" name="Google Shape;153;p2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a:t>What it is</a:t>
            </a:r>
            <a:endParaRPr/>
          </a:p>
          <a:p>
            <a:pPr indent="0" lvl="0" marL="0" rtl="0" algn="l">
              <a:spcBef>
                <a:spcPts val="800"/>
              </a:spcBef>
              <a:spcAft>
                <a:spcPts val="0"/>
              </a:spcAft>
              <a:buNone/>
            </a:pPr>
            <a:r>
              <a:rPr lang="en"/>
              <a:t>The sensation and muscular spasm caused when electric current passes through your body.</a:t>
            </a:r>
            <a:endParaRPr/>
          </a:p>
          <a:p>
            <a:pPr indent="0" lvl="0" marL="0" rtl="0" algn="l">
              <a:spcBef>
                <a:spcPts val="800"/>
              </a:spcBef>
              <a:spcAft>
                <a:spcPts val="0"/>
              </a:spcAft>
              <a:buNone/>
            </a:pPr>
            <a:r>
              <a:rPr lang="en"/>
              <a:t>No matter how much voltage is present, a shock only occurs when you provide a ground-path for the electric current.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Electronics Safety - Electric Shock</a:t>
            </a:r>
            <a:endParaRPr/>
          </a:p>
        </p:txBody>
      </p:sp>
      <p:sp>
        <p:nvSpPr>
          <p:cNvPr id="159" name="Google Shape;159;p30"/>
          <p:cNvSpPr txBox="1"/>
          <p:nvPr>
            <p:ph idx="1" type="body"/>
          </p:nvPr>
        </p:nvSpPr>
        <p:spPr>
          <a:xfrm>
            <a:off x="628650" y="1369219"/>
            <a:ext cx="7886700" cy="3263400"/>
          </a:xfrm>
          <a:prstGeom prst="rect">
            <a:avLst/>
          </a:prstGeom>
        </p:spPr>
        <p:txBody>
          <a:bodyPr anchorCtr="0" anchor="t" bIns="34275" lIns="68575" spcFirstLastPara="1" rIns="68575" wrap="square" tIns="34275">
            <a:normAutofit fontScale="77500" lnSpcReduction="20000"/>
          </a:bodyPr>
          <a:lstStyle/>
          <a:p>
            <a:pPr indent="0" lvl="0" marL="0" rtl="0" algn="l">
              <a:spcBef>
                <a:spcPts val="800"/>
              </a:spcBef>
              <a:spcAft>
                <a:spcPts val="0"/>
              </a:spcAft>
              <a:buNone/>
            </a:pPr>
            <a:r>
              <a:rPr lang="en"/>
              <a:t>What factors affect how severe it can be</a:t>
            </a:r>
            <a:endParaRPr/>
          </a:p>
          <a:p>
            <a:pPr indent="0" lvl="0" marL="0" rtl="0" algn="l">
              <a:spcBef>
                <a:spcPts val="800"/>
              </a:spcBef>
              <a:spcAft>
                <a:spcPts val="0"/>
              </a:spcAft>
              <a:buNone/>
            </a:pPr>
            <a:r>
              <a:rPr lang="en"/>
              <a:t>The following factors determine the severity of the effect electric shock has on your body:</a:t>
            </a:r>
            <a:endParaRPr/>
          </a:p>
          <a:p>
            <a:pPr indent="-297497" lvl="0" marL="457200" rtl="0" algn="l">
              <a:spcBef>
                <a:spcPts val="800"/>
              </a:spcBef>
              <a:spcAft>
                <a:spcPts val="0"/>
              </a:spcAft>
              <a:buSzPct val="66666"/>
              <a:buChar char="-"/>
            </a:pPr>
            <a:r>
              <a:rPr lang="en"/>
              <a:t>The amount of current that is flowing through your body</a:t>
            </a:r>
            <a:endParaRPr/>
          </a:p>
          <a:p>
            <a:pPr indent="-297497" lvl="0" marL="457200" rtl="0" algn="l">
              <a:spcBef>
                <a:spcPts val="0"/>
              </a:spcBef>
              <a:spcAft>
                <a:spcPts val="0"/>
              </a:spcAft>
              <a:buSzPct val="66666"/>
              <a:buChar char="-"/>
            </a:pPr>
            <a:r>
              <a:rPr lang="en"/>
              <a:t>The path the current takes through your body</a:t>
            </a:r>
            <a:endParaRPr/>
          </a:p>
          <a:p>
            <a:pPr indent="-297497" lvl="0" marL="457200" rtl="0" algn="l">
              <a:spcBef>
                <a:spcPts val="0"/>
              </a:spcBef>
              <a:spcAft>
                <a:spcPts val="0"/>
              </a:spcAft>
              <a:buSzPct val="66666"/>
              <a:buChar char="-"/>
            </a:pPr>
            <a:r>
              <a:rPr lang="en"/>
              <a:t>The amount of body resistance you have to the current flow</a:t>
            </a:r>
            <a:endParaRPr/>
          </a:p>
          <a:p>
            <a:pPr indent="-297497" lvl="0" marL="457200" rtl="0" algn="l">
              <a:spcBef>
                <a:spcPts val="0"/>
              </a:spcBef>
              <a:spcAft>
                <a:spcPts val="0"/>
              </a:spcAft>
              <a:buSzPct val="66666"/>
              <a:buChar char="-"/>
            </a:pPr>
            <a:r>
              <a:rPr lang="en"/>
              <a:t>The length of time the current flows through your body.</a:t>
            </a:r>
            <a:endParaRPr/>
          </a:p>
          <a:p>
            <a:pPr indent="0" lvl="0" marL="0" rtl="0" algn="l">
              <a:spcBef>
                <a:spcPts val="800"/>
              </a:spcBef>
              <a:spcAft>
                <a:spcPts val="0"/>
              </a:spcAft>
              <a:buNone/>
            </a:pPr>
            <a:r>
              <a:rPr lang="en"/>
              <a:t>Most dangerous paths : hand-hand, left hand - either foot (passes vital organs and heart)</a:t>
            </a:r>
            <a:endParaRPr/>
          </a:p>
          <a:p>
            <a:pPr indent="0" lvl="0" marL="0" rtl="0" algn="l">
              <a:spcBef>
                <a:spcPts val="800"/>
              </a:spcBef>
              <a:spcAft>
                <a:spcPts val="0"/>
              </a:spcAft>
              <a:buNone/>
            </a:pPr>
            <a:r>
              <a:rPr lang="en"/>
              <a:t>Amt of Rbody: 1500 Ohms (typ. For hand-hand or hand-foot), translates to 146mA current with 220Vac outlet (insert table), 300 Ohms (moist)</a:t>
            </a:r>
            <a:endParaRPr/>
          </a:p>
          <a:p>
            <a:pPr indent="457200" lvl="0" marL="0" rtl="0" algn="l">
              <a:spcBef>
                <a:spcPts val="800"/>
              </a:spcBef>
              <a:spcAft>
                <a:spcPts val="0"/>
              </a:spcAft>
              <a:buNone/>
            </a:pPr>
            <a:r>
              <a:rPr lang="en"/>
              <a:t>Also, breaks in your skin at the point of contact reduce your skin resistance to nearly zero. Skin resistance is only important when you’re handling voltages of less than 240 volts. If you get shocked by more than 240 volts, the voltage arc will burn through your skin and leave deep third-degree burns where it enters your body</a:t>
            </a:r>
            <a:endParaRPr/>
          </a:p>
          <a:p>
            <a:pPr indent="0" lvl="0" marL="0" rtl="0" algn="l">
              <a:spcBef>
                <a:spcPts val="800"/>
              </a:spcBef>
              <a:spcAft>
                <a:spcPts val="0"/>
              </a:spcAft>
              <a:buNone/>
            </a:pPr>
            <a:r>
              <a:rPr lang="en"/>
              <a:t>Time of current flow: see graph at next page (low levels: 21mA @ &gt;10s, 50mA @ &gt;5s)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Electronics Safety - Electric Shock</a:t>
            </a:r>
            <a:endParaRPr/>
          </a:p>
        </p:txBody>
      </p:sp>
      <p:sp>
        <p:nvSpPr>
          <p:cNvPr id="165" name="Google Shape;165;p31"/>
          <p:cNvSpPr txBox="1"/>
          <p:nvPr>
            <p:ph idx="1" type="body"/>
          </p:nvPr>
        </p:nvSpPr>
        <p:spPr>
          <a:xfrm>
            <a:off x="6858000" y="1268050"/>
            <a:ext cx="2126100" cy="32676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SzPts val="440"/>
              <a:buNone/>
            </a:pPr>
            <a:r>
              <a:rPr lang="en" sz="1140"/>
              <a:t>Log-log graph of the effect of alternating current I of duration T passing from left hand to feet as defined in IEC 60479–1.</a:t>
            </a:r>
            <a:endParaRPr sz="1140"/>
          </a:p>
          <a:p>
            <a:pPr indent="0" lvl="0" marL="0" rtl="0" algn="l">
              <a:spcBef>
                <a:spcPts val="800"/>
              </a:spcBef>
              <a:spcAft>
                <a:spcPts val="0"/>
              </a:spcAft>
              <a:buSzPts val="440"/>
              <a:buNone/>
            </a:pPr>
            <a:r>
              <a:rPr lang="en" sz="1140"/>
              <a:t>AC-1: imperceptible</a:t>
            </a:r>
            <a:endParaRPr sz="1140"/>
          </a:p>
          <a:p>
            <a:pPr indent="0" lvl="0" marL="0" rtl="0" algn="l">
              <a:spcBef>
                <a:spcPts val="800"/>
              </a:spcBef>
              <a:spcAft>
                <a:spcPts val="0"/>
              </a:spcAft>
              <a:buSzPts val="440"/>
              <a:buNone/>
            </a:pPr>
            <a:r>
              <a:rPr lang="en" sz="1140"/>
              <a:t>AC-2: perceptible but no muscle reaction</a:t>
            </a:r>
            <a:endParaRPr sz="1140"/>
          </a:p>
          <a:p>
            <a:pPr indent="0" lvl="0" marL="0" rtl="0" algn="l">
              <a:spcBef>
                <a:spcPts val="800"/>
              </a:spcBef>
              <a:spcAft>
                <a:spcPts val="0"/>
              </a:spcAft>
              <a:buSzPts val="440"/>
              <a:buNone/>
            </a:pPr>
            <a:r>
              <a:rPr lang="en" sz="1140"/>
              <a:t>AC-3: muscle contraction with reversible effects</a:t>
            </a:r>
            <a:endParaRPr sz="1140"/>
          </a:p>
          <a:p>
            <a:pPr indent="0" lvl="0" marL="0" rtl="0" algn="l">
              <a:spcBef>
                <a:spcPts val="800"/>
              </a:spcBef>
              <a:spcAft>
                <a:spcPts val="0"/>
              </a:spcAft>
              <a:buSzPts val="440"/>
              <a:buNone/>
            </a:pPr>
            <a:r>
              <a:rPr lang="en" sz="1140"/>
              <a:t>AC-4: possible irreversible effects</a:t>
            </a:r>
            <a:endParaRPr sz="1140"/>
          </a:p>
          <a:p>
            <a:pPr indent="0" lvl="0" marL="0" rtl="0" algn="l">
              <a:spcBef>
                <a:spcPts val="800"/>
              </a:spcBef>
              <a:spcAft>
                <a:spcPts val="0"/>
              </a:spcAft>
              <a:buSzPts val="440"/>
              <a:buNone/>
            </a:pPr>
            <a:r>
              <a:rPr lang="en" sz="1140"/>
              <a:t>AC-4.1: up to 5% probability of ventricular fibrillation</a:t>
            </a:r>
            <a:endParaRPr sz="1140"/>
          </a:p>
          <a:p>
            <a:pPr indent="0" lvl="0" marL="0" rtl="0" algn="l">
              <a:spcBef>
                <a:spcPts val="800"/>
              </a:spcBef>
              <a:spcAft>
                <a:spcPts val="0"/>
              </a:spcAft>
              <a:buSzPts val="440"/>
              <a:buNone/>
            </a:pPr>
            <a:r>
              <a:rPr lang="en" sz="1140"/>
              <a:t>AC-4.2: 5–50% probability of fibrillation</a:t>
            </a:r>
            <a:endParaRPr sz="1140"/>
          </a:p>
          <a:p>
            <a:pPr indent="0" lvl="0" marL="0" rtl="0" algn="l">
              <a:spcBef>
                <a:spcPts val="800"/>
              </a:spcBef>
              <a:spcAft>
                <a:spcPts val="0"/>
              </a:spcAft>
              <a:buSzPts val="440"/>
              <a:buNone/>
            </a:pPr>
            <a:r>
              <a:rPr lang="en" sz="1140"/>
              <a:t>AC-4.3: over 50% probability of fibrillation</a:t>
            </a:r>
            <a:endParaRPr sz="1140"/>
          </a:p>
          <a:p>
            <a:pPr indent="0" lvl="0" marL="0" rtl="0" algn="l">
              <a:spcBef>
                <a:spcPts val="800"/>
              </a:spcBef>
              <a:spcAft>
                <a:spcPts val="0"/>
              </a:spcAft>
              <a:buSzPts val="440"/>
              <a:buNone/>
            </a:pPr>
            <a:r>
              <a:t/>
            </a:r>
            <a:endParaRPr sz="1140"/>
          </a:p>
        </p:txBody>
      </p:sp>
      <p:pic>
        <p:nvPicPr>
          <p:cNvPr id="166" name="Google Shape;166;p31"/>
          <p:cNvPicPr preferRelativeResize="0"/>
          <p:nvPr/>
        </p:nvPicPr>
        <p:blipFill>
          <a:blip r:embed="rId3">
            <a:alphaModFix/>
          </a:blip>
          <a:stretch>
            <a:fillRect/>
          </a:stretch>
        </p:blipFill>
        <p:spPr>
          <a:xfrm>
            <a:off x="628650" y="1143175"/>
            <a:ext cx="6164198" cy="38526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32"/>
          <p:cNvPicPr preferRelativeResize="0"/>
          <p:nvPr/>
        </p:nvPicPr>
        <p:blipFill>
          <a:blip r:embed="rId3">
            <a:alphaModFix/>
          </a:blip>
          <a:stretch>
            <a:fillRect/>
          </a:stretch>
        </p:blipFill>
        <p:spPr>
          <a:xfrm>
            <a:off x="2550263" y="0"/>
            <a:ext cx="4043475" cy="51435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3"/>
          <p:cNvSpPr txBox="1"/>
          <p:nvPr>
            <p:ph type="title"/>
          </p:nvPr>
        </p:nvSpPr>
        <p:spPr>
          <a:xfrm>
            <a:off x="628650" y="1947819"/>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Why not mention it in voltage?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4"/>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Electronics Safety - Electric Shock</a:t>
            </a:r>
            <a:endParaRPr/>
          </a:p>
        </p:txBody>
      </p:sp>
      <p:sp>
        <p:nvSpPr>
          <p:cNvPr id="182" name="Google Shape;182;p34"/>
          <p:cNvSpPr txBox="1"/>
          <p:nvPr>
            <p:ph idx="1" type="body"/>
          </p:nvPr>
        </p:nvSpPr>
        <p:spPr>
          <a:xfrm>
            <a:off x="628650" y="1369219"/>
            <a:ext cx="7886700" cy="3263400"/>
          </a:xfrm>
          <a:prstGeom prst="rect">
            <a:avLst/>
          </a:prstGeom>
        </p:spPr>
        <p:txBody>
          <a:bodyPr anchorCtr="0" anchor="t" bIns="34275" lIns="68575" spcFirstLastPara="1" rIns="68575" wrap="square" tIns="34275">
            <a:normAutofit lnSpcReduction="20000"/>
          </a:bodyPr>
          <a:lstStyle/>
          <a:p>
            <a:pPr indent="0" lvl="0" marL="0" rtl="0" algn="l">
              <a:spcBef>
                <a:spcPts val="800"/>
              </a:spcBef>
              <a:spcAft>
                <a:spcPts val="0"/>
              </a:spcAft>
              <a:buNone/>
            </a:pPr>
            <a:r>
              <a:rPr lang="en"/>
              <a:t>Avoiding electric shock</a:t>
            </a:r>
            <a:endParaRPr/>
          </a:p>
          <a:p>
            <a:pPr indent="0" lvl="0" marL="0" rtl="0" algn="l">
              <a:spcBef>
                <a:spcPts val="800"/>
              </a:spcBef>
              <a:spcAft>
                <a:spcPts val="0"/>
              </a:spcAft>
              <a:buNone/>
            </a:pPr>
            <a:r>
              <a:rPr lang="en"/>
              <a:t>isolate: Isolate yourself from the source of electric shock; Make sure you are safe before providing or removing the power to any equipment, make sure all electrical equipment covers, doors, and enclosures are kept in place when you’re not actually working on the equipment.</a:t>
            </a:r>
            <a:endParaRPr/>
          </a:p>
          <a:p>
            <a:pPr indent="0" lvl="0" marL="0" rtl="0" algn="l">
              <a:spcBef>
                <a:spcPts val="800"/>
              </a:spcBef>
              <a:spcAft>
                <a:spcPts val="0"/>
              </a:spcAft>
              <a:buNone/>
            </a:pPr>
            <a:r>
              <a:rPr lang="en"/>
              <a:t>insulate: Make sure the electrical tools and equipment you use are properly insulated (check insulation on power tools), check power and extension cords for damage, wear, cracks, or breaks. </a:t>
            </a:r>
            <a:endParaRPr/>
          </a:p>
          <a:p>
            <a:pPr indent="0" lvl="0" marL="0" rtl="0" algn="l">
              <a:spcBef>
                <a:spcPts val="800"/>
              </a:spcBef>
              <a:spcAft>
                <a:spcPts val="0"/>
              </a:spcAft>
              <a:buNone/>
            </a:pPr>
            <a:r>
              <a:rPr lang="en"/>
              <a:t>ground: Electric current always follows the path of least resistance; make sure your equipment is well grounded (This will direct any stray electric current to ground, thereby protecting you from electric shock).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5"/>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Electronics Safety - Electric Shock</a:t>
            </a:r>
            <a:endParaRPr/>
          </a:p>
        </p:txBody>
      </p:sp>
      <p:sp>
        <p:nvSpPr>
          <p:cNvPr id="188" name="Google Shape;188;p3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a:t>Making measurements on Low Voltage systems (&lt;60Vdc)</a:t>
            </a:r>
            <a:endParaRPr/>
          </a:p>
          <a:p>
            <a:pPr indent="-317500" lvl="0" marL="457200" rtl="0" algn="l">
              <a:spcBef>
                <a:spcPts val="800"/>
              </a:spcBef>
              <a:spcAft>
                <a:spcPts val="0"/>
              </a:spcAft>
              <a:buSzPts val="1400"/>
              <a:buAutoNum type="arabicPeriod"/>
            </a:pPr>
            <a:r>
              <a:rPr lang="en"/>
              <a:t>Study the schematic and wiring diagrams of the equipment on which you’ll be working. Note the location of the points you will be measuring and, also, the location of any other high-voltage points you should be careful not to measure or touch</a:t>
            </a:r>
            <a:endParaRPr/>
          </a:p>
          <a:p>
            <a:pPr indent="-317500" lvl="0" marL="457200" rtl="0" algn="l">
              <a:spcBef>
                <a:spcPts val="0"/>
              </a:spcBef>
              <a:spcAft>
                <a:spcPts val="0"/>
              </a:spcAft>
              <a:buSzPts val="1400"/>
              <a:buAutoNum type="arabicPeriod"/>
            </a:pPr>
            <a:r>
              <a:rPr lang="en"/>
              <a:t>Always used insulated alligator clips and testing equipment (make sure insulation is present)</a:t>
            </a:r>
            <a:endParaRPr/>
          </a:p>
          <a:p>
            <a:pPr indent="-317500" lvl="0" marL="457200" rtl="0" algn="l">
              <a:spcBef>
                <a:spcPts val="0"/>
              </a:spcBef>
              <a:spcAft>
                <a:spcPts val="0"/>
              </a:spcAft>
              <a:buSzPts val="1400"/>
              <a:buAutoNum type="arabicPeriod"/>
            </a:pPr>
            <a:r>
              <a:rPr lang="en"/>
              <a:t>Don’t touch conductors and conductive materials without rubber gloves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6"/>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Electrical Safety - Electric Shock</a:t>
            </a:r>
            <a:endParaRPr/>
          </a:p>
        </p:txBody>
      </p:sp>
      <p:sp>
        <p:nvSpPr>
          <p:cNvPr id="194" name="Google Shape;194;p36"/>
          <p:cNvSpPr txBox="1"/>
          <p:nvPr>
            <p:ph idx="1" type="body"/>
          </p:nvPr>
        </p:nvSpPr>
        <p:spPr>
          <a:xfrm>
            <a:off x="628650" y="1369219"/>
            <a:ext cx="7886700" cy="3263400"/>
          </a:xfrm>
          <a:prstGeom prst="rect">
            <a:avLst/>
          </a:prstGeom>
        </p:spPr>
        <p:txBody>
          <a:bodyPr anchorCtr="0" anchor="t" bIns="34275" lIns="68575" spcFirstLastPara="1" rIns="68575" wrap="square" tIns="34275">
            <a:normAutofit fontScale="92500" lnSpcReduction="20000"/>
          </a:bodyPr>
          <a:lstStyle/>
          <a:p>
            <a:pPr indent="0" lvl="0" marL="0" rtl="0" algn="l">
              <a:spcBef>
                <a:spcPts val="800"/>
              </a:spcBef>
              <a:spcAft>
                <a:spcPts val="0"/>
              </a:spcAft>
              <a:buNone/>
            </a:pPr>
            <a:r>
              <a:rPr lang="en"/>
              <a:t>Making measurements on High Voltage systems (&gt;=60Vdc)</a:t>
            </a:r>
            <a:endParaRPr/>
          </a:p>
          <a:p>
            <a:pPr indent="-310832" lvl="0" marL="457200" rtl="0" algn="l">
              <a:spcBef>
                <a:spcPts val="800"/>
              </a:spcBef>
              <a:spcAft>
                <a:spcPts val="0"/>
              </a:spcAft>
              <a:buSzPct val="66666"/>
              <a:buAutoNum type="arabicPeriod"/>
            </a:pPr>
            <a:r>
              <a:rPr lang="en"/>
              <a:t>Follow all the previous safety procedures for measuring voltage below 60 volts before beginning your measurements. </a:t>
            </a:r>
            <a:endParaRPr/>
          </a:p>
          <a:p>
            <a:pPr indent="-310832" lvl="0" marL="457200" rtl="0" algn="l">
              <a:spcBef>
                <a:spcPts val="0"/>
              </a:spcBef>
              <a:spcAft>
                <a:spcPts val="0"/>
              </a:spcAft>
              <a:buSzPct val="66666"/>
              <a:buAutoNum type="arabicPeriod"/>
            </a:pPr>
            <a:r>
              <a:rPr lang="en"/>
              <a:t>Make sure the equipment you are working on is DE-ENERGIZED.</a:t>
            </a:r>
            <a:endParaRPr/>
          </a:p>
          <a:p>
            <a:pPr indent="-310832" lvl="0" marL="457200" rtl="0" algn="l">
              <a:spcBef>
                <a:spcPts val="0"/>
              </a:spcBef>
              <a:spcAft>
                <a:spcPts val="0"/>
              </a:spcAft>
              <a:buSzPct val="66666"/>
              <a:buAutoNum type="arabicPeriod"/>
            </a:pPr>
            <a:r>
              <a:rPr lang="en"/>
              <a:t>Discharge all high </a:t>
            </a:r>
            <a:r>
              <a:rPr lang="en">
                <a:highlight>
                  <a:srgbClr val="FF9900"/>
                </a:highlight>
              </a:rPr>
              <a:t>voltage capacitors within the circuit</a:t>
            </a:r>
            <a:endParaRPr>
              <a:highlight>
                <a:srgbClr val="FF9900"/>
              </a:highlight>
            </a:endParaRPr>
          </a:p>
          <a:p>
            <a:pPr indent="-310832" lvl="0" marL="457200" rtl="0" algn="l">
              <a:spcBef>
                <a:spcPts val="0"/>
              </a:spcBef>
              <a:spcAft>
                <a:spcPts val="0"/>
              </a:spcAft>
              <a:buSzPct val="66666"/>
              <a:buAutoNum type="arabicPeriod"/>
            </a:pPr>
            <a:r>
              <a:rPr lang="en"/>
              <a:t>Make sure the measuring device is setup for the voltage level and polarity to be measured.</a:t>
            </a:r>
            <a:endParaRPr/>
          </a:p>
          <a:p>
            <a:pPr indent="-310832" lvl="0" marL="457200" rtl="0" algn="l">
              <a:spcBef>
                <a:spcPts val="0"/>
              </a:spcBef>
              <a:spcAft>
                <a:spcPts val="0"/>
              </a:spcAft>
              <a:buSzPct val="66666"/>
              <a:buAutoNum type="arabicPeriod"/>
            </a:pPr>
            <a:r>
              <a:rPr lang="en"/>
              <a:t>Always attach the ground probe of the measuring device first.</a:t>
            </a:r>
            <a:endParaRPr/>
          </a:p>
          <a:p>
            <a:pPr indent="-310832" lvl="0" marL="457200" rtl="0" algn="l">
              <a:spcBef>
                <a:spcPts val="0"/>
              </a:spcBef>
              <a:spcAft>
                <a:spcPts val="0"/>
              </a:spcAft>
              <a:buSzPct val="66666"/>
              <a:buAutoNum type="arabicPeriod"/>
            </a:pPr>
            <a:r>
              <a:rPr lang="en"/>
              <a:t>Secure the other probe of the measuring device to the test point to be measured.</a:t>
            </a:r>
            <a:endParaRPr/>
          </a:p>
          <a:p>
            <a:pPr indent="-310832" lvl="0" marL="457200" rtl="0" algn="l">
              <a:spcBef>
                <a:spcPts val="0"/>
              </a:spcBef>
              <a:spcAft>
                <a:spcPts val="0"/>
              </a:spcAft>
              <a:buSzPct val="66666"/>
              <a:buAutoNum type="arabicPeriod"/>
            </a:pPr>
            <a:r>
              <a:rPr lang="en"/>
              <a:t>Energize the equipment under test, make the measurement, and then de-energize the equipment.</a:t>
            </a:r>
            <a:endParaRPr/>
          </a:p>
          <a:p>
            <a:pPr indent="-310832" lvl="0" marL="457200" rtl="0" algn="l">
              <a:spcBef>
                <a:spcPts val="0"/>
              </a:spcBef>
              <a:spcAft>
                <a:spcPts val="0"/>
              </a:spcAft>
              <a:buSzPct val="66666"/>
              <a:buAutoNum type="arabicPeriod"/>
            </a:pPr>
            <a:r>
              <a:rPr lang="en"/>
              <a:t>Discharge all high-voltage capacitors.</a:t>
            </a:r>
            <a:endParaRPr/>
          </a:p>
          <a:p>
            <a:pPr indent="-310832" lvl="0" marL="457200" rtl="0" algn="l">
              <a:spcBef>
                <a:spcPts val="0"/>
              </a:spcBef>
              <a:spcAft>
                <a:spcPts val="0"/>
              </a:spcAft>
              <a:buSzPct val="66666"/>
              <a:buAutoNum type="arabicPeriod"/>
            </a:pPr>
            <a:r>
              <a:rPr lang="en"/>
              <a:t>Remove the probes from the equipment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7"/>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Battery on fire</a:t>
            </a:r>
            <a:endParaRPr/>
          </a:p>
        </p:txBody>
      </p:sp>
      <p:sp>
        <p:nvSpPr>
          <p:cNvPr id="200" name="Google Shape;200;p37"/>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a:t>-water bucket</a:t>
            </a:r>
            <a:endParaRPr/>
          </a:p>
          <a:p>
            <a:pPr indent="0" lvl="0" marL="0" rtl="0" algn="l">
              <a:spcBef>
                <a:spcPts val="800"/>
              </a:spcBef>
              <a:spcAft>
                <a:spcPts val="0"/>
              </a:spcAft>
              <a:buNone/>
            </a:pPr>
            <a:r>
              <a:rPr lang="en"/>
              <a:t>-fire </a:t>
            </a:r>
            <a:r>
              <a:rPr lang="en"/>
              <a:t>blanket</a:t>
            </a:r>
            <a:endParaRPr/>
          </a:p>
          <a:p>
            <a:pPr indent="0" lvl="0" marL="0" rtl="0" algn="l">
              <a:spcBef>
                <a:spcPts val="800"/>
              </a:spcBef>
              <a:spcAft>
                <a:spcPts val="0"/>
              </a:spcAft>
              <a:buNone/>
            </a:pPr>
            <a:r>
              <a:rPr lang="en"/>
              <a:t>-use what u can</a:t>
            </a:r>
            <a:endParaRPr/>
          </a:p>
          <a:p>
            <a:pPr indent="0" lvl="0" marL="0" rtl="0" algn="l">
              <a:spcBef>
                <a:spcPts val="800"/>
              </a:spcBef>
              <a:spcAft>
                <a:spcPts val="0"/>
              </a:spcAft>
              <a:buNone/>
            </a:pPr>
            <a:r>
              <a:rPr lang="en" u="sng">
                <a:solidFill>
                  <a:schemeClr val="hlink"/>
                </a:solidFill>
                <a:hlinkClick r:id="rId3"/>
              </a:rPr>
              <a:t>https://www.youtube.com/watch?v=s1431hiRKH8</a:t>
            </a:r>
            <a:r>
              <a:rPr lang="en"/>
              <a:t> </a:t>
            </a:r>
            <a:endParaRPr/>
          </a:p>
          <a:p>
            <a:pPr indent="0" lvl="0" marL="0" rtl="0" algn="l">
              <a:spcBef>
                <a:spcPts val="80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8"/>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Checking of sources</a:t>
            </a:r>
            <a:endParaRPr/>
          </a:p>
        </p:txBody>
      </p:sp>
      <p:sp>
        <p:nvSpPr>
          <p:cNvPr id="206" name="Google Shape;206;p3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a:t>-Missing Dummy?</a:t>
            </a:r>
            <a:endParaRPr/>
          </a:p>
          <a:p>
            <a:pPr indent="0" lvl="0" marL="0" rtl="0" algn="l">
              <a:spcBef>
                <a:spcPts val="800"/>
              </a:spcBef>
              <a:spcAft>
                <a:spcPts val="0"/>
              </a:spcAft>
              <a:buNone/>
            </a:pPr>
            <a:r>
              <a:rPr lang="en"/>
              <a:t>-Any short-circuit?</a:t>
            </a:r>
            <a:endParaRPr/>
          </a:p>
          <a:p>
            <a:pPr indent="0" lvl="0" marL="0" rtl="0" algn="l">
              <a:spcBef>
                <a:spcPts val="800"/>
              </a:spcBef>
              <a:spcAft>
                <a:spcPts val="0"/>
              </a:spcAft>
              <a:buNone/>
            </a:pPr>
            <a:r>
              <a:rPr lang="en"/>
              <a:t>-Metal objects</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9"/>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Voltmeter</a:t>
            </a:r>
            <a:endParaRPr/>
          </a:p>
        </p:txBody>
      </p:sp>
      <p:sp>
        <p:nvSpPr>
          <p:cNvPr id="212" name="Google Shape;212;p3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a:t>In current mode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